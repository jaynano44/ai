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날씨 기반 전력량 분석 및 예측 프로젝트 합의안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2025년 12월 16일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프로젝트 개요 및 최종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 err="1"/>
              <a:t>최종</a:t>
            </a:r>
            <a:r>
              <a:rPr sz="1400" dirty="0"/>
              <a:t> </a:t>
            </a:r>
            <a:r>
              <a:rPr sz="1400" dirty="0" err="1"/>
              <a:t>목표</a:t>
            </a:r>
            <a:r>
              <a:rPr sz="1400" dirty="0"/>
              <a:t>: </a:t>
            </a:r>
            <a:r>
              <a:rPr sz="1400" dirty="0" err="1"/>
              <a:t>서울시</a:t>
            </a:r>
            <a:r>
              <a:rPr sz="1400" dirty="0"/>
              <a:t> </a:t>
            </a:r>
            <a:r>
              <a:rPr sz="1400" dirty="0" err="1"/>
              <a:t>법정동별</a:t>
            </a:r>
            <a:r>
              <a:rPr sz="1400" dirty="0"/>
              <a:t> </a:t>
            </a:r>
            <a:r>
              <a:rPr sz="1400" dirty="0" err="1"/>
              <a:t>단기</a:t>
            </a:r>
            <a:r>
              <a:rPr sz="1400" dirty="0"/>
              <a:t> </a:t>
            </a:r>
            <a:r>
              <a:rPr sz="1400" dirty="0" err="1"/>
              <a:t>전력</a:t>
            </a:r>
            <a:r>
              <a:rPr sz="1400" dirty="0"/>
              <a:t> </a:t>
            </a:r>
            <a:r>
              <a:rPr sz="1400" dirty="0" err="1"/>
              <a:t>사용량</a:t>
            </a:r>
            <a:r>
              <a:rPr sz="1400" dirty="0"/>
              <a:t> (3~7일) </a:t>
            </a:r>
            <a:r>
              <a:rPr sz="1400" dirty="0" err="1"/>
              <a:t>예측</a:t>
            </a:r>
            <a:r>
              <a:rPr sz="1400" dirty="0"/>
              <a:t> </a:t>
            </a:r>
            <a:r>
              <a:rPr sz="1400" dirty="0" err="1"/>
              <a:t>모델</a:t>
            </a:r>
            <a:r>
              <a:rPr sz="1400" dirty="0"/>
              <a:t> </a:t>
            </a:r>
            <a:r>
              <a:rPr sz="1400" dirty="0" err="1"/>
              <a:t>개발</a:t>
            </a:r>
            <a:r>
              <a:rPr sz="1400" dirty="0"/>
              <a:t> (STLF)</a:t>
            </a:r>
          </a:p>
          <a:p>
            <a:pPr lvl="1"/>
            <a:r>
              <a:rPr sz="1400" dirty="0" err="1"/>
              <a:t>핵심</a:t>
            </a:r>
            <a:r>
              <a:rPr sz="1400" dirty="0"/>
              <a:t> </a:t>
            </a:r>
            <a:r>
              <a:rPr sz="1400" dirty="0" err="1"/>
              <a:t>성과</a:t>
            </a:r>
            <a:r>
              <a:rPr sz="1400" dirty="0"/>
              <a:t>:</a:t>
            </a:r>
          </a:p>
          <a:p>
            <a:pPr lvl="2"/>
            <a:r>
              <a:rPr sz="1400" dirty="0"/>
              <a:t>1. </a:t>
            </a:r>
            <a:r>
              <a:rPr sz="1400" dirty="0" err="1"/>
              <a:t>날씨와</a:t>
            </a:r>
            <a:r>
              <a:rPr sz="1400" dirty="0"/>
              <a:t> </a:t>
            </a:r>
            <a:r>
              <a:rPr sz="1400" dirty="0" err="1"/>
              <a:t>전력</a:t>
            </a:r>
            <a:r>
              <a:rPr sz="1400" dirty="0"/>
              <a:t> </a:t>
            </a:r>
            <a:r>
              <a:rPr sz="1400" dirty="0" err="1"/>
              <a:t>사용량</a:t>
            </a:r>
            <a:r>
              <a:rPr sz="1400" dirty="0"/>
              <a:t> </a:t>
            </a:r>
            <a:r>
              <a:rPr sz="1400" dirty="0" err="1"/>
              <a:t>간의</a:t>
            </a:r>
            <a:r>
              <a:rPr sz="1400" dirty="0"/>
              <a:t> </a:t>
            </a:r>
            <a:r>
              <a:rPr sz="1400" dirty="0" err="1"/>
              <a:t>계절별</a:t>
            </a:r>
            <a:r>
              <a:rPr sz="1400" dirty="0"/>
              <a:t> </a:t>
            </a:r>
            <a:r>
              <a:rPr sz="1400" dirty="0" err="1"/>
              <a:t>비선형</a:t>
            </a:r>
            <a:r>
              <a:rPr sz="1400" dirty="0"/>
              <a:t> </a:t>
            </a:r>
            <a:r>
              <a:rPr sz="1400" dirty="0" err="1"/>
              <a:t>관계</a:t>
            </a:r>
            <a:r>
              <a:rPr sz="1400" dirty="0"/>
              <a:t> </a:t>
            </a:r>
            <a:r>
              <a:rPr sz="1400" dirty="0" err="1"/>
              <a:t>분석</a:t>
            </a:r>
            <a:r>
              <a:rPr sz="1400" dirty="0"/>
              <a:t> (</a:t>
            </a:r>
            <a:r>
              <a:rPr sz="1400" dirty="0" err="1"/>
              <a:t>히트맵</a:t>
            </a:r>
            <a:r>
              <a:rPr sz="1400" dirty="0"/>
              <a:t>)</a:t>
            </a:r>
          </a:p>
          <a:p>
            <a:pPr lvl="2"/>
            <a:r>
              <a:rPr sz="1400" dirty="0"/>
              <a:t>2. RMSE/MAPE </a:t>
            </a:r>
            <a:r>
              <a:rPr sz="1400" dirty="0" err="1"/>
              <a:t>기반의</a:t>
            </a:r>
            <a:r>
              <a:rPr sz="1400" dirty="0"/>
              <a:t> </a:t>
            </a:r>
            <a:r>
              <a:rPr sz="1400" dirty="0" err="1"/>
              <a:t>모델</a:t>
            </a:r>
            <a:r>
              <a:rPr sz="1400" dirty="0"/>
              <a:t> </a:t>
            </a:r>
            <a:r>
              <a:rPr sz="1400" dirty="0" err="1"/>
              <a:t>성능</a:t>
            </a:r>
            <a:r>
              <a:rPr sz="1400" dirty="0"/>
              <a:t> </a:t>
            </a:r>
            <a:r>
              <a:rPr sz="1400" dirty="0" err="1"/>
              <a:t>비교</a:t>
            </a:r>
            <a:endParaRPr sz="1400" dirty="0"/>
          </a:p>
          <a:p>
            <a:pPr lvl="1"/>
            <a:r>
              <a:rPr sz="1400" dirty="0" err="1"/>
              <a:t>차별화</a:t>
            </a:r>
            <a:r>
              <a:rPr sz="1400" dirty="0"/>
              <a:t> </a:t>
            </a:r>
            <a:r>
              <a:rPr sz="1400" dirty="0" err="1"/>
              <a:t>요소</a:t>
            </a:r>
            <a:r>
              <a:rPr sz="1400" dirty="0"/>
              <a:t>: </a:t>
            </a:r>
            <a:r>
              <a:rPr sz="1400" dirty="0" err="1"/>
              <a:t>단일</a:t>
            </a:r>
            <a:r>
              <a:rPr sz="1400" dirty="0"/>
              <a:t> </a:t>
            </a:r>
            <a:r>
              <a:rPr sz="1400" dirty="0" err="1"/>
              <a:t>서울</a:t>
            </a:r>
            <a:r>
              <a:rPr sz="1400" dirty="0"/>
              <a:t> </a:t>
            </a:r>
            <a:r>
              <a:rPr sz="1400" dirty="0" err="1"/>
              <a:t>날씨</a:t>
            </a:r>
            <a:r>
              <a:rPr sz="1400" dirty="0"/>
              <a:t> </a:t>
            </a:r>
            <a:r>
              <a:rPr sz="1400" dirty="0" err="1"/>
              <a:t>데이터에</a:t>
            </a:r>
            <a:r>
              <a:rPr sz="1400" dirty="0"/>
              <a:t> </a:t>
            </a:r>
            <a:r>
              <a:rPr sz="1400" dirty="0" err="1"/>
              <a:t>법정동</a:t>
            </a:r>
            <a:r>
              <a:rPr sz="1400" dirty="0"/>
              <a:t> </a:t>
            </a:r>
            <a:r>
              <a:rPr sz="1400" dirty="0" err="1"/>
              <a:t>코드를</a:t>
            </a:r>
            <a:r>
              <a:rPr sz="1400" dirty="0"/>
              <a:t> </a:t>
            </a:r>
            <a:r>
              <a:rPr sz="1400" dirty="0" err="1"/>
              <a:t>Feature로</a:t>
            </a:r>
            <a:r>
              <a:rPr sz="1400" dirty="0"/>
              <a:t> </a:t>
            </a:r>
            <a:r>
              <a:rPr sz="1400" dirty="0" err="1"/>
              <a:t>활용하여</a:t>
            </a:r>
            <a:r>
              <a:rPr sz="1400" dirty="0"/>
              <a:t> </a:t>
            </a:r>
            <a:r>
              <a:rPr sz="1400" dirty="0" err="1"/>
              <a:t>지역별</a:t>
            </a:r>
            <a:r>
              <a:rPr sz="1400" dirty="0"/>
              <a:t> </a:t>
            </a:r>
            <a:r>
              <a:rPr sz="1400" dirty="0" err="1"/>
              <a:t>패턴</a:t>
            </a:r>
            <a:r>
              <a:rPr sz="1400" dirty="0"/>
              <a:t> </a:t>
            </a:r>
            <a:r>
              <a:rPr sz="1400" dirty="0" err="1"/>
              <a:t>분리</a:t>
            </a:r>
            <a:r>
              <a:rPr sz="1400" dirty="0"/>
              <a:t> </a:t>
            </a:r>
            <a:r>
              <a:rPr sz="1400" dirty="0" err="1"/>
              <a:t>학습</a:t>
            </a:r>
            <a:endParaRPr sz="1400" dirty="0"/>
          </a:p>
          <a:p>
            <a:pPr lvl="1"/>
            <a:r>
              <a:rPr sz="1400" dirty="0" err="1"/>
              <a:t>현업</a:t>
            </a:r>
            <a:r>
              <a:rPr sz="1400" dirty="0"/>
              <a:t> </a:t>
            </a:r>
            <a:r>
              <a:rPr sz="1400" dirty="0" err="1"/>
              <a:t>적용</a:t>
            </a:r>
            <a:r>
              <a:rPr sz="1400" dirty="0"/>
              <a:t> </a:t>
            </a:r>
            <a:r>
              <a:rPr sz="1400" dirty="0" err="1"/>
              <a:t>가능성</a:t>
            </a:r>
            <a:r>
              <a:rPr sz="1400" dirty="0"/>
              <a:t> </a:t>
            </a:r>
            <a:r>
              <a:rPr sz="1400" dirty="0" err="1"/>
              <a:t>확보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확보 데이터 현황 및 역할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구성</a:t>
            </a:r>
            <a:endParaRPr sz="1400" dirty="0"/>
          </a:p>
          <a:p>
            <a:pPr lvl="1"/>
            <a:r>
              <a:rPr sz="1400" dirty="0" err="1"/>
              <a:t>전력량</a:t>
            </a:r>
            <a:r>
              <a:rPr sz="1400" dirty="0"/>
              <a:t>: 22년 6월 ~ 25년 11월 </a:t>
            </a:r>
            <a:r>
              <a:rPr sz="1400" dirty="0" err="1"/>
              <a:t>법정동</a:t>
            </a:r>
            <a:r>
              <a:rPr sz="1400" dirty="0"/>
              <a:t> </a:t>
            </a:r>
            <a:r>
              <a:rPr sz="1400" dirty="0" err="1"/>
              <a:t>시간별</a:t>
            </a:r>
            <a:r>
              <a:rPr sz="1400" dirty="0"/>
              <a:t> </a:t>
            </a:r>
            <a:r>
              <a:rPr sz="1400" dirty="0" err="1"/>
              <a:t>전력량</a:t>
            </a:r>
            <a:r>
              <a:rPr sz="1400" dirty="0"/>
              <a:t> (CSV)</a:t>
            </a:r>
          </a:p>
          <a:p>
            <a:pPr lvl="2"/>
            <a:r>
              <a:rPr sz="1400" dirty="0" err="1"/>
              <a:t>담당</a:t>
            </a:r>
            <a:r>
              <a:rPr sz="1400" dirty="0"/>
              <a:t>: [</a:t>
            </a:r>
            <a:r>
              <a:rPr sz="1400" dirty="0" err="1"/>
              <a:t>팀원</a:t>
            </a:r>
            <a:r>
              <a:rPr sz="1400" dirty="0"/>
              <a:t> </a:t>
            </a:r>
            <a:r>
              <a:rPr sz="1400" dirty="0" err="1"/>
              <a:t>이름</a:t>
            </a:r>
            <a:r>
              <a:rPr sz="1400" dirty="0"/>
              <a:t>] (</a:t>
            </a:r>
            <a:r>
              <a:rPr sz="1400" dirty="0" err="1"/>
              <a:t>전처리</a:t>
            </a:r>
            <a:r>
              <a:rPr sz="1400" dirty="0"/>
              <a:t> 및 </a:t>
            </a:r>
            <a:r>
              <a:rPr sz="1400" dirty="0" err="1"/>
              <a:t>병합</a:t>
            </a:r>
            <a:r>
              <a:rPr sz="1400" dirty="0"/>
              <a:t>)</a:t>
            </a:r>
          </a:p>
          <a:p>
            <a:pPr lvl="1"/>
            <a:r>
              <a:rPr sz="1400" dirty="0" err="1"/>
              <a:t>법정동</a:t>
            </a:r>
            <a:r>
              <a:rPr sz="1400" dirty="0"/>
              <a:t> </a:t>
            </a:r>
            <a:r>
              <a:rPr sz="1400" dirty="0" err="1"/>
              <a:t>코드</a:t>
            </a:r>
            <a:r>
              <a:rPr sz="1400" dirty="0"/>
              <a:t>: </a:t>
            </a:r>
            <a:r>
              <a:rPr sz="1400" dirty="0" err="1"/>
              <a:t>법정동</a:t>
            </a:r>
            <a:r>
              <a:rPr sz="1400" dirty="0"/>
              <a:t> </a:t>
            </a:r>
            <a:r>
              <a:rPr sz="1400" dirty="0" err="1"/>
              <a:t>코드-명칭</a:t>
            </a:r>
            <a:r>
              <a:rPr sz="1400" dirty="0"/>
              <a:t> </a:t>
            </a:r>
            <a:r>
              <a:rPr sz="1400" dirty="0" err="1"/>
              <a:t>매핑</a:t>
            </a:r>
            <a:r>
              <a:rPr sz="1400" dirty="0"/>
              <a:t> </a:t>
            </a:r>
            <a:r>
              <a:rPr sz="1400" dirty="0" err="1"/>
              <a:t>자료</a:t>
            </a:r>
            <a:r>
              <a:rPr sz="1400" dirty="0"/>
              <a:t> (XLS)</a:t>
            </a:r>
          </a:p>
          <a:p>
            <a:pPr lvl="2"/>
            <a:r>
              <a:rPr sz="1400" dirty="0" err="1"/>
              <a:t>담당</a:t>
            </a:r>
            <a:r>
              <a:rPr sz="1400" dirty="0"/>
              <a:t>: [</a:t>
            </a:r>
            <a:r>
              <a:rPr sz="1400" dirty="0" err="1"/>
              <a:t>팀원</a:t>
            </a:r>
            <a:r>
              <a:rPr sz="1400" dirty="0"/>
              <a:t> </a:t>
            </a:r>
            <a:r>
              <a:rPr sz="1400" dirty="0" err="1"/>
              <a:t>이름</a:t>
            </a:r>
            <a:r>
              <a:rPr sz="1400" dirty="0"/>
              <a:t>] (</a:t>
            </a:r>
            <a:r>
              <a:rPr sz="1400" dirty="0" err="1"/>
              <a:t>전처리</a:t>
            </a:r>
            <a:r>
              <a:rPr sz="1400" dirty="0"/>
              <a:t> 및 </a:t>
            </a:r>
            <a:r>
              <a:rPr sz="1400" dirty="0" err="1"/>
              <a:t>병합</a:t>
            </a:r>
            <a:r>
              <a:rPr sz="1400" dirty="0"/>
              <a:t>)</a:t>
            </a:r>
          </a:p>
          <a:p>
            <a:pPr lvl="1"/>
            <a:r>
              <a:rPr sz="1400" dirty="0" err="1"/>
              <a:t>기상</a:t>
            </a:r>
            <a:r>
              <a:rPr sz="1400" dirty="0"/>
              <a:t> </a:t>
            </a:r>
            <a:r>
              <a:rPr sz="1400" dirty="0" err="1"/>
              <a:t>데이터</a:t>
            </a:r>
            <a:r>
              <a:rPr sz="1400" dirty="0"/>
              <a:t>: 22년 ~ 25년 </a:t>
            </a:r>
            <a:r>
              <a:rPr sz="1400" dirty="0" err="1"/>
              <a:t>서울</a:t>
            </a:r>
            <a:r>
              <a:rPr sz="1400" dirty="0"/>
              <a:t> </a:t>
            </a:r>
            <a:r>
              <a:rPr sz="1400" dirty="0" err="1"/>
              <a:t>시간별</a:t>
            </a:r>
            <a:r>
              <a:rPr sz="1400" dirty="0"/>
              <a:t> </a:t>
            </a:r>
            <a:r>
              <a:rPr sz="1400" dirty="0" err="1"/>
              <a:t>기상</a:t>
            </a:r>
            <a:r>
              <a:rPr sz="1400" dirty="0"/>
              <a:t> </a:t>
            </a:r>
            <a:r>
              <a:rPr sz="1400" dirty="0" err="1"/>
              <a:t>데이터</a:t>
            </a:r>
            <a:r>
              <a:rPr sz="1400" dirty="0"/>
              <a:t> (.HR </a:t>
            </a:r>
            <a:r>
              <a:rPr sz="1400" dirty="0" err="1"/>
              <a:t>파일</a:t>
            </a:r>
            <a:r>
              <a:rPr sz="1400" dirty="0"/>
              <a:t>) (ZIP/CSV)</a:t>
            </a:r>
          </a:p>
          <a:p>
            <a:pPr lvl="2"/>
            <a:r>
              <a:rPr sz="1400" dirty="0" err="1"/>
              <a:t>담당</a:t>
            </a:r>
            <a:r>
              <a:rPr sz="1400" dirty="0"/>
              <a:t>: [</a:t>
            </a:r>
            <a:r>
              <a:rPr sz="1400" dirty="0" err="1"/>
              <a:t>팀원</a:t>
            </a:r>
            <a:r>
              <a:rPr sz="1400" dirty="0"/>
              <a:t> </a:t>
            </a:r>
            <a:r>
              <a:rPr sz="1400" dirty="0" err="1"/>
              <a:t>이름</a:t>
            </a:r>
            <a:r>
              <a:rPr sz="1400" dirty="0"/>
              <a:t>] (</a:t>
            </a:r>
            <a:r>
              <a:rPr sz="1400" dirty="0" err="1"/>
              <a:t>전처리</a:t>
            </a:r>
            <a:r>
              <a:rPr sz="1400" dirty="0"/>
              <a:t> 및 </a:t>
            </a:r>
            <a:r>
              <a:rPr sz="1400" dirty="0" err="1"/>
              <a:t>병합</a:t>
            </a:r>
            <a:r>
              <a:rPr sz="1400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로드맵 (Phase 1 &amp;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Phase 1: </a:t>
            </a:r>
            <a:r>
              <a:rPr sz="1400" dirty="0" err="1"/>
              <a:t>데이터</a:t>
            </a:r>
            <a:r>
              <a:rPr sz="1400" dirty="0"/>
              <a:t> </a:t>
            </a:r>
            <a:r>
              <a:rPr sz="1400" dirty="0" err="1"/>
              <a:t>통합</a:t>
            </a:r>
            <a:r>
              <a:rPr sz="1400" dirty="0"/>
              <a:t> 및 </a:t>
            </a:r>
            <a:r>
              <a:rPr sz="1400" dirty="0" err="1"/>
              <a:t>피처</a:t>
            </a:r>
            <a:r>
              <a:rPr sz="1400" dirty="0"/>
              <a:t> </a:t>
            </a:r>
            <a:r>
              <a:rPr sz="1400" dirty="0" err="1"/>
              <a:t>엔지니어링</a:t>
            </a:r>
            <a:r>
              <a:rPr sz="1400" dirty="0"/>
              <a:t> (D-Day 1~3)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데이터</a:t>
            </a:r>
            <a:r>
              <a:rPr sz="1400" dirty="0"/>
              <a:t> Merge: </a:t>
            </a:r>
            <a:r>
              <a:rPr sz="1400" dirty="0" err="1"/>
              <a:t>전력량</a:t>
            </a:r>
            <a:r>
              <a:rPr sz="1400" dirty="0"/>
              <a:t>(</a:t>
            </a:r>
            <a:r>
              <a:rPr sz="1400" dirty="0" err="1"/>
              <a:t>법정동코드</a:t>
            </a:r>
            <a:r>
              <a:rPr sz="1400" dirty="0"/>
              <a:t> </a:t>
            </a:r>
            <a:r>
              <a:rPr sz="1400" dirty="0" err="1"/>
              <a:t>문자열</a:t>
            </a:r>
            <a:r>
              <a:rPr sz="1400" dirty="0"/>
              <a:t>), </a:t>
            </a:r>
            <a:r>
              <a:rPr sz="1400" dirty="0" err="1"/>
              <a:t>기상데이터</a:t>
            </a:r>
            <a:r>
              <a:rPr sz="1400" dirty="0"/>
              <a:t>(</a:t>
            </a:r>
            <a:r>
              <a:rPr sz="1400" dirty="0" err="1"/>
              <a:t>날짜포맷</a:t>
            </a:r>
            <a:r>
              <a:rPr sz="1400" dirty="0"/>
              <a:t> </a:t>
            </a:r>
            <a:r>
              <a:rPr sz="1400" dirty="0" err="1"/>
              <a:t>통일</a:t>
            </a:r>
            <a:r>
              <a:rPr sz="1400" dirty="0"/>
              <a:t>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결측치</a:t>
            </a:r>
            <a:r>
              <a:rPr sz="1400" dirty="0"/>
              <a:t> </a:t>
            </a:r>
            <a:r>
              <a:rPr sz="1400" dirty="0" err="1"/>
              <a:t>처리</a:t>
            </a:r>
            <a:r>
              <a:rPr sz="1400" dirty="0"/>
              <a:t>: </a:t>
            </a:r>
            <a:r>
              <a:rPr sz="1400" dirty="0" err="1"/>
              <a:t>기상</a:t>
            </a:r>
            <a:r>
              <a:rPr sz="1400" dirty="0"/>
              <a:t> </a:t>
            </a:r>
            <a:r>
              <a:rPr sz="1400" dirty="0" err="1"/>
              <a:t>데이터</a:t>
            </a:r>
            <a:r>
              <a:rPr sz="1400" dirty="0"/>
              <a:t>(</a:t>
            </a:r>
            <a:r>
              <a:rPr sz="1400" dirty="0" err="1"/>
              <a:t>NaN</a:t>
            </a:r>
            <a:r>
              <a:rPr sz="1400" dirty="0"/>
              <a:t> → 0)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피처</a:t>
            </a:r>
            <a:r>
              <a:rPr sz="1400" dirty="0"/>
              <a:t> </a:t>
            </a:r>
            <a:r>
              <a:rPr sz="1400" dirty="0" err="1"/>
              <a:t>엔지니어링</a:t>
            </a:r>
            <a:r>
              <a:rPr sz="1400" dirty="0"/>
              <a:t>: </a:t>
            </a:r>
            <a:r>
              <a:rPr sz="1400" dirty="0" err="1"/>
              <a:t>시간</a:t>
            </a:r>
            <a:r>
              <a:rPr sz="1400" dirty="0"/>
              <a:t> </a:t>
            </a:r>
            <a:r>
              <a:rPr sz="1400" dirty="0" err="1"/>
              <a:t>변수</a:t>
            </a:r>
            <a:r>
              <a:rPr sz="1400" dirty="0"/>
              <a:t>(</a:t>
            </a:r>
            <a:r>
              <a:rPr sz="1400" dirty="0" err="1"/>
              <a:t>요일</a:t>
            </a:r>
            <a:r>
              <a:rPr sz="1400" dirty="0"/>
              <a:t>, 월 등) </a:t>
            </a:r>
            <a:r>
              <a:rPr sz="1400" dirty="0" err="1"/>
              <a:t>우선</a:t>
            </a:r>
            <a:r>
              <a:rPr sz="1400" dirty="0"/>
              <a:t> </a:t>
            </a:r>
            <a:r>
              <a:rPr sz="1400" dirty="0" err="1"/>
              <a:t>생성</a:t>
            </a:r>
            <a:r>
              <a:rPr sz="1400" dirty="0"/>
              <a:t>, </a:t>
            </a:r>
            <a:r>
              <a:rPr sz="1400" dirty="0" err="1"/>
              <a:t>추후</a:t>
            </a:r>
            <a:r>
              <a:rPr sz="1400" dirty="0"/>
              <a:t> </a:t>
            </a:r>
            <a:r>
              <a:rPr sz="1400" dirty="0" err="1"/>
              <a:t>파생</a:t>
            </a:r>
            <a:r>
              <a:rPr sz="1400" dirty="0"/>
              <a:t> </a:t>
            </a:r>
            <a:r>
              <a:rPr sz="1400" dirty="0" err="1"/>
              <a:t>변수</a:t>
            </a:r>
            <a:r>
              <a:rPr sz="1400" dirty="0"/>
              <a:t>(</a:t>
            </a:r>
            <a:r>
              <a:rPr sz="1400" dirty="0" err="1"/>
              <a:t>불쾌지수</a:t>
            </a:r>
            <a:r>
              <a:rPr sz="1400" dirty="0"/>
              <a:t> 등) </a:t>
            </a:r>
            <a:r>
              <a:rPr sz="1400" dirty="0" err="1"/>
              <a:t>추가</a:t>
            </a:r>
            <a:endParaRPr sz="1400" dirty="0"/>
          </a:p>
          <a:p>
            <a:r>
              <a:rPr sz="1400" dirty="0"/>
              <a:t>Phase 2: EDA 및 </a:t>
            </a:r>
            <a:r>
              <a:rPr sz="1400" dirty="0" err="1"/>
              <a:t>상관관계</a:t>
            </a:r>
            <a:r>
              <a:rPr sz="1400" dirty="0"/>
              <a:t> </a:t>
            </a:r>
            <a:r>
              <a:rPr sz="1400" dirty="0" err="1"/>
              <a:t>분석</a:t>
            </a:r>
            <a:r>
              <a:rPr sz="1400" dirty="0"/>
              <a:t> (D-Day 4)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상관관계</a:t>
            </a:r>
            <a:r>
              <a:rPr sz="1400" dirty="0"/>
              <a:t> </a:t>
            </a:r>
            <a:r>
              <a:rPr sz="1400" dirty="0" err="1"/>
              <a:t>히트맵</a:t>
            </a:r>
            <a:r>
              <a:rPr sz="1400" dirty="0"/>
              <a:t>: </a:t>
            </a:r>
            <a:r>
              <a:rPr sz="1400" dirty="0" err="1"/>
              <a:t>여름</a:t>
            </a:r>
            <a:r>
              <a:rPr sz="1400" dirty="0"/>
              <a:t>(6~9월)과 </a:t>
            </a:r>
            <a:r>
              <a:rPr sz="1400" dirty="0" err="1"/>
              <a:t>겨울</a:t>
            </a:r>
            <a:r>
              <a:rPr sz="1400" dirty="0"/>
              <a:t>(11~2월) </a:t>
            </a:r>
            <a:r>
              <a:rPr sz="1400" dirty="0" err="1"/>
              <a:t>분리</a:t>
            </a:r>
            <a:r>
              <a:rPr sz="1400" dirty="0"/>
              <a:t> </a:t>
            </a:r>
            <a:r>
              <a:rPr sz="1400" dirty="0" err="1"/>
              <a:t>분석</a:t>
            </a:r>
            <a:endParaRPr sz="1400" dirty="0"/>
          </a:p>
          <a:p>
            <a:pPr lvl="1"/>
            <a:r>
              <a:rPr sz="1400" dirty="0"/>
              <a:t>- </a:t>
            </a:r>
            <a:r>
              <a:rPr sz="1400" dirty="0" err="1"/>
              <a:t>지역</a:t>
            </a:r>
            <a:r>
              <a:rPr sz="1400" dirty="0"/>
              <a:t> </a:t>
            </a:r>
            <a:r>
              <a:rPr sz="1400" dirty="0" err="1"/>
              <a:t>패턴</a:t>
            </a:r>
            <a:r>
              <a:rPr sz="1400" dirty="0"/>
              <a:t> </a:t>
            </a:r>
            <a:r>
              <a:rPr sz="1400" dirty="0" err="1"/>
              <a:t>분석</a:t>
            </a:r>
            <a:r>
              <a:rPr sz="1400" dirty="0"/>
              <a:t>: </a:t>
            </a:r>
            <a:r>
              <a:rPr sz="1400" dirty="0" err="1"/>
              <a:t>상업</a:t>
            </a:r>
            <a:r>
              <a:rPr sz="1400" dirty="0"/>
              <a:t> </a:t>
            </a:r>
            <a:r>
              <a:rPr sz="1400" dirty="0" err="1"/>
              <a:t>지구</a:t>
            </a:r>
            <a:r>
              <a:rPr sz="1400" dirty="0"/>
              <a:t>(</a:t>
            </a:r>
            <a:r>
              <a:rPr sz="1400" dirty="0" err="1"/>
              <a:t>강남구</a:t>
            </a:r>
            <a:r>
              <a:rPr sz="1400" dirty="0"/>
              <a:t>) vs </a:t>
            </a:r>
            <a:r>
              <a:rPr sz="1400" dirty="0" err="1"/>
              <a:t>주거</a:t>
            </a:r>
            <a:r>
              <a:rPr sz="1400" dirty="0"/>
              <a:t> </a:t>
            </a:r>
            <a:r>
              <a:rPr sz="1400" dirty="0" err="1"/>
              <a:t>지구</a:t>
            </a:r>
            <a:r>
              <a:rPr sz="1400" dirty="0"/>
              <a:t>(</a:t>
            </a:r>
            <a:r>
              <a:rPr sz="1400" dirty="0" err="1"/>
              <a:t>노원구</a:t>
            </a:r>
            <a:r>
              <a:rPr sz="1400" dirty="0"/>
              <a:t>) </a:t>
            </a:r>
            <a:r>
              <a:rPr sz="1400" dirty="0" err="1"/>
              <a:t>시간대별</a:t>
            </a:r>
            <a:r>
              <a:rPr sz="1400" dirty="0"/>
              <a:t> </a:t>
            </a:r>
            <a:r>
              <a:rPr sz="1400" dirty="0" err="1"/>
              <a:t>패턴</a:t>
            </a:r>
            <a:r>
              <a:rPr sz="1400" dirty="0"/>
              <a:t> </a:t>
            </a:r>
            <a:r>
              <a:rPr sz="1400" dirty="0" err="1"/>
              <a:t>비교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로드맵 (Phase 3 &amp;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400" dirty="0"/>
              <a:t>Phase 3: </a:t>
            </a:r>
            <a:r>
              <a:rPr sz="1400" dirty="0" err="1"/>
              <a:t>모델링</a:t>
            </a:r>
            <a:r>
              <a:rPr sz="1400" dirty="0"/>
              <a:t> 및 </a:t>
            </a:r>
            <a:r>
              <a:rPr sz="1400" dirty="0" err="1"/>
              <a:t>성능</a:t>
            </a:r>
            <a:r>
              <a:rPr sz="1400" dirty="0"/>
              <a:t> </a:t>
            </a:r>
            <a:r>
              <a:rPr sz="1400" dirty="0" err="1"/>
              <a:t>검증</a:t>
            </a:r>
            <a:r>
              <a:rPr sz="1400" dirty="0"/>
              <a:t> (D-Day 5~7)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훈련</a:t>
            </a:r>
            <a:r>
              <a:rPr sz="1400" dirty="0"/>
              <a:t>/</a:t>
            </a:r>
            <a:r>
              <a:rPr sz="1400" dirty="0" err="1"/>
              <a:t>테스트</a:t>
            </a:r>
            <a:r>
              <a:rPr sz="1400" dirty="0"/>
              <a:t>: </a:t>
            </a:r>
            <a:r>
              <a:rPr sz="1400" dirty="0" err="1"/>
              <a:t>과거</a:t>
            </a:r>
            <a:r>
              <a:rPr sz="1400" dirty="0"/>
              <a:t>(22~24년) </a:t>
            </a:r>
            <a:r>
              <a:rPr sz="1400" dirty="0" err="1"/>
              <a:t>훈련</a:t>
            </a:r>
            <a:r>
              <a:rPr sz="1400" dirty="0"/>
              <a:t> vs </a:t>
            </a:r>
            <a:r>
              <a:rPr sz="1400" dirty="0" err="1"/>
              <a:t>최근</a:t>
            </a:r>
            <a:r>
              <a:rPr sz="1400" dirty="0"/>
              <a:t>(25년) </a:t>
            </a:r>
            <a:r>
              <a:rPr sz="1400" dirty="0" err="1"/>
              <a:t>검증</a:t>
            </a:r>
            <a:endParaRPr sz="1400" dirty="0"/>
          </a:p>
          <a:p>
            <a:pPr lvl="1"/>
            <a:r>
              <a:rPr sz="1400" dirty="0"/>
              <a:t>- </a:t>
            </a:r>
            <a:r>
              <a:rPr sz="1400" dirty="0" err="1"/>
              <a:t>모델</a:t>
            </a:r>
            <a:r>
              <a:rPr sz="1400" dirty="0"/>
              <a:t>: </a:t>
            </a:r>
            <a:r>
              <a:rPr sz="1400" dirty="0" err="1"/>
              <a:t>LightGBM</a:t>
            </a:r>
            <a:r>
              <a:rPr sz="1400" dirty="0"/>
              <a:t>/</a:t>
            </a:r>
            <a:r>
              <a:rPr sz="1400" dirty="0" err="1"/>
              <a:t>XGBoost</a:t>
            </a:r>
            <a:r>
              <a:rPr sz="1400" dirty="0"/>
              <a:t> (</a:t>
            </a:r>
            <a:r>
              <a:rPr sz="1400" dirty="0" err="1"/>
              <a:t>필수</a:t>
            </a:r>
            <a:r>
              <a:rPr sz="1400" dirty="0"/>
              <a:t>) vs LSTM (</a:t>
            </a:r>
            <a:r>
              <a:rPr sz="1400" dirty="0" err="1"/>
              <a:t>선택</a:t>
            </a:r>
            <a:r>
              <a:rPr sz="1400" dirty="0"/>
              <a:t>)</a:t>
            </a:r>
          </a:p>
          <a:p>
            <a:pPr lvl="1"/>
            <a:r>
              <a:rPr sz="1400" dirty="0"/>
              <a:t>- LAG Feature: </a:t>
            </a:r>
            <a:r>
              <a:rPr sz="1400" dirty="0" err="1"/>
              <a:t>초기</a:t>
            </a:r>
            <a:r>
              <a:rPr sz="1400" dirty="0"/>
              <a:t> </a:t>
            </a:r>
            <a:r>
              <a:rPr sz="1400" dirty="0" err="1"/>
              <a:t>제외</a:t>
            </a:r>
            <a:r>
              <a:rPr sz="1400" dirty="0"/>
              <a:t>, </a:t>
            </a:r>
            <a:r>
              <a:rPr sz="1400" dirty="0" err="1"/>
              <a:t>개선</a:t>
            </a:r>
            <a:r>
              <a:rPr sz="1400" dirty="0"/>
              <a:t> </a:t>
            </a:r>
            <a:r>
              <a:rPr sz="1400" dirty="0" err="1"/>
              <a:t>단계에서</a:t>
            </a:r>
            <a:r>
              <a:rPr sz="1400" dirty="0"/>
              <a:t> </a:t>
            </a:r>
            <a:r>
              <a:rPr sz="1400" dirty="0" err="1"/>
              <a:t>추가</a:t>
            </a:r>
            <a:endParaRPr sz="1400" dirty="0"/>
          </a:p>
          <a:p>
            <a:r>
              <a:rPr sz="1400" dirty="0"/>
              <a:t>Phase 4: </a:t>
            </a:r>
            <a:r>
              <a:rPr sz="1400" dirty="0" err="1"/>
              <a:t>결과</a:t>
            </a:r>
            <a:r>
              <a:rPr sz="1400" dirty="0"/>
              <a:t> </a:t>
            </a:r>
            <a:r>
              <a:rPr sz="1400" dirty="0" err="1"/>
              <a:t>시뮬레이션</a:t>
            </a:r>
            <a:r>
              <a:rPr sz="1400" dirty="0"/>
              <a:t> 및 </a:t>
            </a:r>
            <a:r>
              <a:rPr sz="1400" dirty="0" err="1"/>
              <a:t>정리</a:t>
            </a:r>
            <a:r>
              <a:rPr sz="1400" dirty="0"/>
              <a:t> (D-Day 8~10)</a:t>
            </a:r>
          </a:p>
          <a:p>
            <a:pPr lvl="1"/>
            <a:r>
              <a:rPr sz="1400" dirty="0"/>
              <a:t>- </a:t>
            </a:r>
            <a:r>
              <a:rPr sz="1400" dirty="0" err="1"/>
              <a:t>시뮬레이션</a:t>
            </a:r>
            <a:r>
              <a:rPr sz="1400" dirty="0"/>
              <a:t>: </a:t>
            </a:r>
            <a:r>
              <a:rPr sz="1400" dirty="0" err="1"/>
              <a:t>가상의</a:t>
            </a:r>
            <a:r>
              <a:rPr sz="1400" dirty="0"/>
              <a:t> '</a:t>
            </a:r>
            <a:r>
              <a:rPr sz="1400" dirty="0" err="1"/>
              <a:t>다음</a:t>
            </a:r>
            <a:r>
              <a:rPr sz="1400" dirty="0"/>
              <a:t> 주' </a:t>
            </a:r>
            <a:r>
              <a:rPr sz="1400" dirty="0" err="1"/>
              <a:t>기상</a:t>
            </a:r>
            <a:r>
              <a:rPr sz="1400" dirty="0"/>
              <a:t> </a:t>
            </a:r>
            <a:r>
              <a:rPr sz="1400" dirty="0" err="1"/>
              <a:t>데이터로</a:t>
            </a:r>
            <a:r>
              <a:rPr sz="1400" dirty="0"/>
              <a:t> 3~7일 </a:t>
            </a:r>
            <a:r>
              <a:rPr sz="1400" dirty="0" err="1"/>
              <a:t>예측</a:t>
            </a:r>
            <a:endParaRPr sz="1400" dirty="0"/>
          </a:p>
          <a:p>
            <a:pPr lvl="1"/>
            <a:r>
              <a:rPr sz="1400" dirty="0"/>
              <a:t>- </a:t>
            </a:r>
            <a:r>
              <a:rPr sz="1400" dirty="0" err="1"/>
              <a:t>민감도</a:t>
            </a:r>
            <a:r>
              <a:rPr sz="1400" dirty="0"/>
              <a:t> </a:t>
            </a:r>
            <a:r>
              <a:rPr sz="1400" dirty="0" err="1"/>
              <a:t>분석</a:t>
            </a:r>
            <a:r>
              <a:rPr sz="1400" dirty="0"/>
              <a:t>: </a:t>
            </a:r>
            <a:r>
              <a:rPr sz="1400" dirty="0" err="1"/>
              <a:t>기온</a:t>
            </a:r>
            <a:r>
              <a:rPr sz="1400" dirty="0"/>
              <a:t> 1도 </a:t>
            </a:r>
            <a:r>
              <a:rPr sz="1400" dirty="0" err="1"/>
              <a:t>상승</a:t>
            </a:r>
            <a:r>
              <a:rPr sz="1400" dirty="0"/>
              <a:t> 시 </a:t>
            </a:r>
            <a:r>
              <a:rPr sz="1400" dirty="0" err="1"/>
              <a:t>전력량</a:t>
            </a:r>
            <a:r>
              <a:rPr sz="1400" dirty="0"/>
              <a:t> </a:t>
            </a:r>
            <a:r>
              <a:rPr sz="1400" dirty="0" err="1"/>
              <a:t>변화</a:t>
            </a:r>
            <a:r>
              <a:rPr sz="1400" dirty="0"/>
              <a:t> </a:t>
            </a:r>
            <a:r>
              <a:rPr sz="1400" dirty="0" err="1"/>
              <a:t>분석</a:t>
            </a:r>
            <a:endParaRPr sz="1400" dirty="0"/>
          </a:p>
          <a:p>
            <a:pPr lvl="1"/>
            <a:r>
              <a:rPr sz="1400" dirty="0"/>
              <a:t>- </a:t>
            </a:r>
            <a:r>
              <a:rPr sz="1400" dirty="0" err="1"/>
              <a:t>포트폴리오</a:t>
            </a:r>
            <a:r>
              <a:rPr sz="1400" dirty="0"/>
              <a:t>: </a:t>
            </a:r>
            <a:r>
              <a:rPr sz="1400" dirty="0" err="1"/>
              <a:t>문제</a:t>
            </a:r>
            <a:r>
              <a:rPr sz="1400" dirty="0"/>
              <a:t> </a:t>
            </a:r>
            <a:r>
              <a:rPr sz="1400" dirty="0" err="1"/>
              <a:t>정의</a:t>
            </a:r>
            <a:r>
              <a:rPr sz="1400" dirty="0"/>
              <a:t> → </a:t>
            </a:r>
            <a:r>
              <a:rPr sz="1400" dirty="0" err="1"/>
              <a:t>초기</a:t>
            </a:r>
            <a:r>
              <a:rPr sz="1400" dirty="0"/>
              <a:t> </a:t>
            </a:r>
            <a:r>
              <a:rPr sz="1400" dirty="0" err="1"/>
              <a:t>모델</a:t>
            </a:r>
            <a:r>
              <a:rPr sz="1400" dirty="0"/>
              <a:t> → </a:t>
            </a:r>
            <a:r>
              <a:rPr sz="1400" dirty="0" err="1"/>
              <a:t>개선</a:t>
            </a:r>
            <a:r>
              <a:rPr sz="1400" dirty="0"/>
              <a:t> </a:t>
            </a:r>
            <a:r>
              <a:rPr sz="1400" dirty="0" err="1"/>
              <a:t>과정</a:t>
            </a:r>
            <a:r>
              <a:rPr sz="1400" dirty="0"/>
              <a:t> </a:t>
            </a:r>
            <a:r>
              <a:rPr sz="1400" dirty="0" err="1"/>
              <a:t>스토리텔링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402</Words>
  <Application>Microsoft Office PowerPoint</Application>
  <PresentationFormat>화면 슬라이드 쇼(4:3)</PresentationFormat>
  <Paragraphs>34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날씨 기반 전력량 분석 및 예측 프로젝트 합의안</vt:lpstr>
      <vt:lpstr>1. 프로젝트 개요 및 최종 목표</vt:lpstr>
      <vt:lpstr>2. 확보 데이터 현황 및 역할</vt:lpstr>
      <vt:lpstr>3. 로드맵 (Phase 1 &amp; 2)</vt:lpstr>
      <vt:lpstr>3. 로드맵 (Phase 3 &amp; 4)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taper4444@gmail.com</cp:lastModifiedBy>
  <cp:revision>2</cp:revision>
  <dcterms:created xsi:type="dcterms:W3CDTF">2013-01-27T09:14:16Z</dcterms:created>
  <dcterms:modified xsi:type="dcterms:W3CDTF">2025-12-16T08:56:45Z</dcterms:modified>
  <cp:category/>
</cp:coreProperties>
</file>